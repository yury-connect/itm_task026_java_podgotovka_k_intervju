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y="5143500" cx="9144000"/>
  <p:notesSz cx="6858000" cy="9144000"/>
  <p:embeddedFontLst>
    <p:embeddedFont>
      <p:font typeface="Roboto"/>
      <p:regular r:id="rId33"/>
      <p:bold r:id="rId34"/>
      <p:italic r:id="rId35"/>
      <p:boldItalic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149C0C6-D02B-405A-AD4C-83FB681DCE10}">
  <a:tblStyle styleId="{A149C0C6-D02B-405A-AD4C-83FB681DCE1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font" Target="fonts/Roboto-regular.fntdata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font" Target="fonts/Roboto-italic.fntdata"/><Relationship Id="rId12" Type="http://schemas.openxmlformats.org/officeDocument/2006/relationships/slide" Target="slides/slide6.xml"/><Relationship Id="rId34" Type="http://schemas.openxmlformats.org/officeDocument/2006/relationships/font" Target="fonts/Roboto-bold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36" Type="http://schemas.openxmlformats.org/officeDocument/2006/relationships/font" Target="fonts/Roboto-boldItalic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7e000a0d1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7e000a0d1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7e000a0d1e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7e000a0d1e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7e000a0d1e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7e000a0d1e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7e000a0d1e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7e000a0d1e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7e000a0d1e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7e000a0d1e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7e000a0d1e_0_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7e000a0d1e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7e000a0d1e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7e000a0d1e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7e000a0d1e_0_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7e000a0d1e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7e000a0d1e_0_1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7e000a0d1e_0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7e000a0d1e_0_1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7e000a0d1e_0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7e054ecae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7e054ecae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7e054ecae5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7e054ecae5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7e054ecae5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7e054ecae5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7e054ecae5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7e054ecae5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7e054ecae5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7e054ecae5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7e054ecae5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7e054ecae5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7e054ecae5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7e054ecae5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7e054ecae5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7e054ecae5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7e054ecae5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7e054ecae5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7e054ecae5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7e054ecae5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7e054ecae5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7e054ecae5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7e054ecae5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7e054ecae5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7e054ecae5_0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7e054ecae5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7e054ecae5_0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7e054ecae5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7e054ecae5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7e054ecae5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7e054ecae5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7e054ecae5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3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Relationship Id="rId4" Type="http://schemas.openxmlformats.org/officeDocument/2006/relationships/image" Target="../media/image6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Relationship Id="rId4" Type="http://schemas.openxmlformats.org/officeDocument/2006/relationships/image" Target="../media/image3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png"/><Relationship Id="rId4" Type="http://schemas.openxmlformats.org/officeDocument/2006/relationships/image" Target="../media/image5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.png"/><Relationship Id="rId4" Type="http://schemas.openxmlformats.org/officeDocument/2006/relationships/image" Target="../media/image3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.png"/><Relationship Id="rId4" Type="http://schemas.openxmlformats.org/officeDocument/2006/relationships/image" Target="../media/image4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88675" y="1162050"/>
            <a:ext cx="8520600" cy="1086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Базы данных. Нормализация. 1-3 НФ.</a:t>
            </a:r>
            <a:endParaRPr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88675" y="2248050"/>
            <a:ext cx="4675200" cy="64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Окулов Антон</a:t>
            </a:r>
            <a:endParaRPr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" name="Google Shape;56;p13"/>
          <p:cNvSpPr txBox="1"/>
          <p:nvPr>
            <p:ph idx="1" type="subTitle"/>
          </p:nvPr>
        </p:nvSpPr>
        <p:spPr>
          <a:xfrm>
            <a:off x="6052200" y="4166950"/>
            <a:ext cx="2780100" cy="60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ru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R.class</a:t>
            </a:r>
            <a:endParaRPr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ctrTitle"/>
          </p:nvPr>
        </p:nvSpPr>
        <p:spPr>
          <a:xfrm>
            <a:off x="488250" y="152700"/>
            <a:ext cx="8327700" cy="71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3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Нормализация</a:t>
            </a:r>
            <a:endParaRPr b="1" sz="3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2" name="Google Shape;62;p14"/>
          <p:cNvSpPr txBox="1"/>
          <p:nvPr/>
        </p:nvSpPr>
        <p:spPr>
          <a:xfrm>
            <a:off x="408150" y="915200"/>
            <a:ext cx="8327700" cy="378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Char char="-"/>
            </a:pPr>
            <a:r>
              <a:rPr lang="ru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Удаление избыточности данных.</a:t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Char char="-"/>
            </a:pPr>
            <a:r>
              <a:rPr lang="ru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Избыточность - когда мы храним больше данных, чем это необходимо. </a:t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Char char="-"/>
            </a:pPr>
            <a:r>
              <a:rPr lang="ru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Избыточность ведет к:</a:t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Char char="-"/>
            </a:pPr>
            <a:r>
              <a:rPr lang="ru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Увеличению занимаемого места на диске</a:t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Char char="-"/>
            </a:pPr>
            <a:r>
              <a:rPr lang="ru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Аномалиям включения, обновления, удаления</a:t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ctrTitle"/>
          </p:nvPr>
        </p:nvSpPr>
        <p:spPr>
          <a:xfrm>
            <a:off x="488250" y="152700"/>
            <a:ext cx="8327700" cy="71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3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Нормализация</a:t>
            </a:r>
            <a:endParaRPr b="1" sz="3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" name="Google Shape;68;p15"/>
          <p:cNvSpPr txBox="1"/>
          <p:nvPr/>
        </p:nvSpPr>
        <p:spPr>
          <a:xfrm>
            <a:off x="408150" y="915200"/>
            <a:ext cx="8327700" cy="378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2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Устранение избыточности производится, как правило, за счёт </a:t>
            </a:r>
            <a:r>
              <a:rPr b="1" lang="ru" sz="2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декомпозиции</a:t>
            </a:r>
            <a:r>
              <a:rPr lang="ru" sz="2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отношений таким образом, чтобы в каждом отношении хранились только первичные факты (то есть факты, не выводимые из других хранимых фактов).</a:t>
            </a:r>
            <a:endParaRPr sz="24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ctrTitle"/>
          </p:nvPr>
        </p:nvSpPr>
        <p:spPr>
          <a:xfrm>
            <a:off x="488250" y="152700"/>
            <a:ext cx="8327700" cy="71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3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Нормализация</a:t>
            </a:r>
            <a:endParaRPr b="1" sz="3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" name="Google Shape;74;p16"/>
          <p:cNvSpPr txBox="1"/>
          <p:nvPr/>
        </p:nvSpPr>
        <p:spPr>
          <a:xfrm>
            <a:off x="408150" y="915200"/>
            <a:ext cx="8327700" cy="378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Нормализацию иногда упрекают на том основании, что «это просто здравый смысл», а любой компетентный профессионал и сам «естественным образом» спроектирует полностью нормализованную БД без необходимости применять теорию зависимостей. Однако, как указывает К. Дейт, нормализация в точности и является теми принципами здравого смысла, которыми руководствуется в своём сознании зрелый проектировщик, то есть принципы нормализации — это формализованный здравый смысл. </a:t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ctrTitle"/>
          </p:nvPr>
        </p:nvSpPr>
        <p:spPr>
          <a:xfrm>
            <a:off x="488250" y="152700"/>
            <a:ext cx="8327700" cy="71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3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Нормальные формы</a:t>
            </a:r>
            <a:endParaRPr b="1" sz="3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0" name="Google Shape;80;p17"/>
          <p:cNvSpPr txBox="1"/>
          <p:nvPr/>
        </p:nvSpPr>
        <p:spPr>
          <a:xfrm>
            <a:off x="408150" y="915200"/>
            <a:ext cx="8327700" cy="378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Char char="-"/>
            </a:pPr>
            <a:r>
              <a:rPr lang="ru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1 НФ</a:t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Char char="-"/>
            </a:pPr>
            <a:r>
              <a:rPr lang="ru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2 НФ</a:t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Char char="-"/>
            </a:pPr>
            <a:r>
              <a:rPr lang="ru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3 НФ</a:t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Char char="-"/>
            </a:pPr>
            <a:r>
              <a:rPr lang="ru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НФ Бойса-Кодда (усиленная 3 НФ)</a:t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Char char="-"/>
            </a:pPr>
            <a:r>
              <a:rPr lang="ru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4 НФ</a:t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Char char="-"/>
            </a:pPr>
            <a:r>
              <a:rPr lang="ru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5 НФ *</a:t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Char char="-"/>
            </a:pPr>
            <a:r>
              <a:rPr lang="ru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6 НФ **</a:t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Char char="-"/>
            </a:pPr>
            <a:r>
              <a:rPr lang="ru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Доменно-ключевая НФ **</a:t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*  - </a:t>
            </a:r>
            <a:r>
              <a:rPr lang="ru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Расскажу, но практики не будет.</a:t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** - Даже не расскажу, смотреть самим</a:t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>
            <p:ph type="ctrTitle"/>
          </p:nvPr>
        </p:nvSpPr>
        <p:spPr>
          <a:xfrm>
            <a:off x="488250" y="152700"/>
            <a:ext cx="8327700" cy="71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3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1 НФ</a:t>
            </a:r>
            <a:endParaRPr b="1" sz="3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" name="Google Shape;86;p18"/>
          <p:cNvSpPr txBox="1"/>
          <p:nvPr/>
        </p:nvSpPr>
        <p:spPr>
          <a:xfrm>
            <a:off x="408150" y="915200"/>
            <a:ext cx="8327700" cy="378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Определение: </a:t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Переменная отношения находится в первой нормальной форме (1НФ) тогда и только тогда, когда в любом допустимом значении отношения каждый его кортеж содержит только одно значение для каждого из атрибутов.</a:t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>
            <p:ph type="ctrTitle"/>
          </p:nvPr>
        </p:nvSpPr>
        <p:spPr>
          <a:xfrm>
            <a:off x="488250" y="152700"/>
            <a:ext cx="8327700" cy="71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3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1 НФ</a:t>
            </a:r>
            <a:endParaRPr b="1" sz="3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2" name="Google Shape;92;p19"/>
          <p:cNvSpPr txBox="1"/>
          <p:nvPr/>
        </p:nvSpPr>
        <p:spPr>
          <a:xfrm>
            <a:off x="408150" y="915200"/>
            <a:ext cx="5353500" cy="378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Карочи</a:t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Char char="-"/>
            </a:pPr>
            <a:r>
              <a:rPr lang="ru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В каждой клеточке таблицы должно быть только одно значение.</a:t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Char char="-"/>
            </a:pPr>
            <a:r>
              <a:rPr lang="ru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Не должно быть повторяющихся строк.</a:t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93" name="Google Shape;93;p19"/>
          <p:cNvPicPr preferRelativeResize="0"/>
          <p:nvPr/>
        </p:nvPicPr>
        <p:blipFill rotWithShape="1">
          <a:blip r:embed="rId4">
            <a:alphaModFix/>
          </a:blip>
          <a:srcRect b="5675" l="22080" r="21102" t="6343"/>
          <a:stretch/>
        </p:blipFill>
        <p:spPr>
          <a:xfrm>
            <a:off x="6087950" y="417500"/>
            <a:ext cx="2922451" cy="4525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0"/>
          <p:cNvSpPr txBox="1"/>
          <p:nvPr>
            <p:ph type="ctrTitle"/>
          </p:nvPr>
        </p:nvSpPr>
        <p:spPr>
          <a:xfrm>
            <a:off x="488250" y="152700"/>
            <a:ext cx="8327700" cy="71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3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1 НФ - до нормализации</a:t>
            </a:r>
            <a:endParaRPr b="1" sz="3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99" name="Google Shape;99;p20"/>
          <p:cNvGraphicFramePr/>
          <p:nvPr/>
        </p:nvGraphicFramePr>
        <p:xfrm>
          <a:off x="657300" y="11037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{A149C0C6-D02B-405A-AD4C-83FB681DCE10}</a:tableStyleId>
              </a:tblPr>
              <a:tblGrid>
                <a:gridCol w="2029400"/>
                <a:gridCol w="4890500"/>
              </a:tblGrid>
              <a:tr h="834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name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hobbies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CCCCCC"/>
                    </a:solidFill>
                  </a:tcPr>
                </a:tc>
              </a:tr>
              <a:tr h="561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Суворов Алексей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Коньки, Мотоцикл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</a:tr>
              <a:tr h="49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Окулов Ярослав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ClickHouse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</a:tr>
              <a:tr h="49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Созинов Илья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Портреты, PlayStation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</a:tr>
              <a:tr h="551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Белянин Алексей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Фотография, Велосипеды, Аудиотехника, Ножи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</a:tr>
              <a:tr h="49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Збруев Роман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Гитара, Радиотехника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1"/>
          <p:cNvSpPr txBox="1"/>
          <p:nvPr>
            <p:ph type="ctrTitle"/>
          </p:nvPr>
        </p:nvSpPr>
        <p:spPr>
          <a:xfrm>
            <a:off x="488250" y="152700"/>
            <a:ext cx="8327700" cy="71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3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1 НФ - до нормализации</a:t>
            </a:r>
            <a:endParaRPr b="1" sz="3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105" name="Google Shape;105;p21"/>
          <p:cNvGraphicFramePr/>
          <p:nvPr/>
        </p:nvGraphicFramePr>
        <p:xfrm>
          <a:off x="657300" y="11037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{A149C0C6-D02B-405A-AD4C-83FB681DCE10}</a:tableStyleId>
              </a:tblPr>
              <a:tblGrid>
                <a:gridCol w="2020600"/>
                <a:gridCol w="4869300"/>
              </a:tblGrid>
              <a:tr h="834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name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hobbies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CCCCCC"/>
                    </a:solidFill>
                  </a:tcPr>
                </a:tc>
              </a:tr>
              <a:tr h="561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Суворов Алексей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Коньки, Мотоцикл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</a:tr>
              <a:tr h="49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Окулов Ярослав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ClickHouse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</a:tr>
              <a:tr h="49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Созинов Илья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Портреты, PlayStation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</a:tr>
              <a:tr h="551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Белянин Алексей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Фотография, Велосипеды, Аудиотехника, Ножи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</a:tr>
              <a:tr h="49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Збруев Роман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Гитара, Радиотехника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106" name="Google Shape;106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549588">
            <a:off x="3772500" y="475575"/>
            <a:ext cx="4409650" cy="4409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type="ctrTitle"/>
          </p:nvPr>
        </p:nvSpPr>
        <p:spPr>
          <a:xfrm>
            <a:off x="488250" y="152700"/>
            <a:ext cx="8327700" cy="71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3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1 НФ - после нормализации</a:t>
            </a:r>
            <a:endParaRPr b="1" sz="3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112" name="Google Shape;112;p22"/>
          <p:cNvGraphicFramePr/>
          <p:nvPr/>
        </p:nvGraphicFramePr>
        <p:xfrm>
          <a:off x="598850" y="8687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{A149C0C6-D02B-405A-AD4C-83FB681DCE10}</a:tableStyleId>
              </a:tblPr>
              <a:tblGrid>
                <a:gridCol w="2020600"/>
                <a:gridCol w="4869300"/>
              </a:tblGrid>
              <a:tr h="834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name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hobbie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CCCCCC"/>
                    </a:solidFill>
                  </a:tcPr>
                </a:tc>
              </a:tr>
              <a:tr h="561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Суворов Алексей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Коньки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</a:tr>
              <a:tr h="561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</a:rPr>
                        <a:t>Суворов Алексей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</a:rPr>
                        <a:t>Мотоцикл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</a:tr>
              <a:tr h="49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Окулов Ярослав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ClickHouse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</a:tr>
              <a:tr h="49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Созинов Илья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Портреты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</a:tr>
              <a:tr h="551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...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...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</a:tr>
              <a:tr h="49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Збруев Роман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Радиотехника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3"/>
          <p:cNvSpPr txBox="1"/>
          <p:nvPr>
            <p:ph type="ctrTitle"/>
          </p:nvPr>
        </p:nvSpPr>
        <p:spPr>
          <a:xfrm>
            <a:off x="488250" y="152700"/>
            <a:ext cx="8327700" cy="71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3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r>
              <a:rPr b="1" lang="ru" sz="3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НФ</a:t>
            </a:r>
            <a:endParaRPr b="1" sz="3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8" name="Google Shape;118;p23"/>
          <p:cNvSpPr txBox="1"/>
          <p:nvPr/>
        </p:nvSpPr>
        <p:spPr>
          <a:xfrm>
            <a:off x="408150" y="915200"/>
            <a:ext cx="8327700" cy="378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Определение:</a:t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Переменная отношения находится во второй нормальной форме тогда и только тогда, когда она находится в первой нормальной форме и каждый неключевой атрибут неприводимо (функционально полно) зависит от её потенциального ключа.</a:t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4"/>
          <p:cNvSpPr txBox="1"/>
          <p:nvPr>
            <p:ph type="ctrTitle"/>
          </p:nvPr>
        </p:nvSpPr>
        <p:spPr>
          <a:xfrm>
            <a:off x="408150" y="152700"/>
            <a:ext cx="8327700" cy="71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3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2 НФ</a:t>
            </a:r>
            <a:endParaRPr b="1" sz="3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4" name="Google Shape;124;p24"/>
          <p:cNvSpPr txBox="1"/>
          <p:nvPr/>
        </p:nvSpPr>
        <p:spPr>
          <a:xfrm>
            <a:off x="408150" y="915200"/>
            <a:ext cx="8327700" cy="378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Определение:</a:t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Переменная отношения находится во второй нормальной форме тогда и только тогда, когда она находится в первой нормальной форме и каждый неключевой атрибут неприводимо (функционально полно) зависит от её потенциального ключа.</a:t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25" name="Google Shape;125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439891">
            <a:off x="4625400" y="1562150"/>
            <a:ext cx="3123650" cy="3130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5"/>
          <p:cNvSpPr txBox="1"/>
          <p:nvPr>
            <p:ph type="ctrTitle"/>
          </p:nvPr>
        </p:nvSpPr>
        <p:spPr>
          <a:xfrm>
            <a:off x="408150" y="152700"/>
            <a:ext cx="8327700" cy="71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3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r>
              <a:rPr b="1" lang="ru" sz="3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НФ</a:t>
            </a:r>
            <a:endParaRPr b="1" sz="3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1" name="Google Shape;131;p25"/>
          <p:cNvSpPr txBox="1"/>
          <p:nvPr/>
        </p:nvSpPr>
        <p:spPr>
          <a:xfrm>
            <a:off x="408150" y="915200"/>
            <a:ext cx="5353500" cy="378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Карочи</a:t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Char char="-"/>
            </a:pPr>
            <a:r>
              <a:rPr lang="ru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Таблица в 1НФ</a:t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Char char="-"/>
            </a:pPr>
            <a:r>
              <a:rPr lang="ru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Есть первичный ключ</a:t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Char char="-"/>
            </a:pPr>
            <a:r>
              <a:rPr lang="ru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Все атрибуты зависят от первичного ключа целиком, а не от какой-то его части</a:t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32" name="Google Shape;132;p25"/>
          <p:cNvPicPr preferRelativeResize="0"/>
          <p:nvPr/>
        </p:nvPicPr>
        <p:blipFill rotWithShape="1">
          <a:blip r:embed="rId4">
            <a:alphaModFix/>
          </a:blip>
          <a:srcRect b="5675" l="22080" r="21102" t="6343"/>
          <a:stretch/>
        </p:blipFill>
        <p:spPr>
          <a:xfrm>
            <a:off x="6087950" y="417500"/>
            <a:ext cx="2922451" cy="4525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6"/>
          <p:cNvSpPr txBox="1"/>
          <p:nvPr>
            <p:ph type="ctrTitle"/>
          </p:nvPr>
        </p:nvSpPr>
        <p:spPr>
          <a:xfrm>
            <a:off x="488250" y="152700"/>
            <a:ext cx="8327700" cy="71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3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r>
              <a:rPr b="1" lang="ru" sz="3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НФ - до нормализации</a:t>
            </a:r>
            <a:endParaRPr b="1" sz="3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138" name="Google Shape;138;p26"/>
          <p:cNvGraphicFramePr/>
          <p:nvPr/>
        </p:nvGraphicFramePr>
        <p:xfrm>
          <a:off x="598850" y="8687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{A149C0C6-D02B-405A-AD4C-83FB681DCE10}</a:tableStyleId>
              </a:tblPr>
              <a:tblGrid>
                <a:gridCol w="1612525"/>
                <a:gridCol w="2424375"/>
                <a:gridCol w="2853000"/>
              </a:tblGrid>
              <a:tr h="380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name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project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project_client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CCCCCC"/>
                    </a:solidFill>
                  </a:tcPr>
                </a:tc>
              </a:tr>
              <a:tr h="441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Суворов Алексей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КайзерДом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Сергей И.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</a:tr>
              <a:tr h="415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</a:rPr>
                        <a:t>Суворов Алексей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</a:rPr>
                        <a:t>Юнитраст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</a:rPr>
                        <a:t>Иван С.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</a:tr>
              <a:tr h="406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Окулов Ярослав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Доска почета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Аркадий Г.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</a:tr>
              <a:tr h="49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Созинов Илья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</a:rPr>
                        <a:t>КайзерДом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</a:rPr>
                        <a:t>Сергей И.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</a:tr>
              <a:tr h="483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</a:rPr>
                        <a:t>Збруев Роман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КайзерДом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</a:rPr>
                        <a:t>Сергей И.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</a:tr>
              <a:tr h="49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Збруев Роман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Юнитраст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Иван С.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7"/>
          <p:cNvSpPr txBox="1"/>
          <p:nvPr>
            <p:ph type="ctrTitle"/>
          </p:nvPr>
        </p:nvSpPr>
        <p:spPr>
          <a:xfrm>
            <a:off x="488250" y="152700"/>
            <a:ext cx="8327700" cy="71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3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2 НФ - добавим первичный ключ</a:t>
            </a:r>
            <a:endParaRPr b="1" sz="3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144" name="Google Shape;144;p27"/>
          <p:cNvGraphicFramePr/>
          <p:nvPr/>
        </p:nvGraphicFramePr>
        <p:xfrm>
          <a:off x="350250" y="8687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{A149C0C6-D02B-405A-AD4C-83FB681DCE10}</a:tableStyleId>
              </a:tblPr>
              <a:tblGrid>
                <a:gridCol w="1304100"/>
                <a:gridCol w="1304100"/>
                <a:gridCol w="1818450"/>
                <a:gridCol w="2097850"/>
                <a:gridCol w="1655800"/>
              </a:tblGrid>
              <a:tr h="380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worker_id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project_id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name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project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project_client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CCCCCC"/>
                    </a:solidFill>
                  </a:tcPr>
                </a:tc>
              </a:tr>
              <a:tr h="441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1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1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Суворов Алексей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КайзерДом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Сергей И.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</a:tr>
              <a:tr h="415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</a:rPr>
                        <a:t>2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</a:rPr>
                        <a:t>Суворов Алексей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</a:rPr>
                        <a:t>Юнитраст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</a:rPr>
                        <a:t>Иван С.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</a:tr>
              <a:tr h="406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2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3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Окулов Ярослав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Доска почета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Аркадий Г.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</a:tr>
              <a:tr h="49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3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1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Созинов Илья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</a:rPr>
                        <a:t>КайзерДом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</a:rPr>
                        <a:t>Сергей И.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</a:tr>
              <a:tr h="483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</a:rPr>
                        <a:t>4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</a:rPr>
                        <a:t>Збруев Роман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КайзерДом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</a:rPr>
                        <a:t>Сергей И.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</a:tr>
              <a:tr h="49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4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2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Збруев Роман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Юнитраст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Иван С.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5" name="Google Shape;145;p27"/>
          <p:cNvSpPr/>
          <p:nvPr/>
        </p:nvSpPr>
        <p:spPr>
          <a:xfrm>
            <a:off x="283225" y="711525"/>
            <a:ext cx="2751900" cy="35319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8"/>
          <p:cNvSpPr txBox="1"/>
          <p:nvPr>
            <p:ph type="ctrTitle"/>
          </p:nvPr>
        </p:nvSpPr>
        <p:spPr>
          <a:xfrm>
            <a:off x="488250" y="152700"/>
            <a:ext cx="8327700" cy="71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3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2 НФ - добавим первичный ключ</a:t>
            </a:r>
            <a:endParaRPr b="1" sz="3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151" name="Google Shape;151;p28"/>
          <p:cNvGraphicFramePr/>
          <p:nvPr/>
        </p:nvGraphicFramePr>
        <p:xfrm>
          <a:off x="350250" y="8687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{A149C0C6-D02B-405A-AD4C-83FB681DCE10}</a:tableStyleId>
              </a:tblPr>
              <a:tblGrid>
                <a:gridCol w="1304100"/>
                <a:gridCol w="1304100"/>
                <a:gridCol w="1818450"/>
                <a:gridCol w="2097850"/>
                <a:gridCol w="1655800"/>
              </a:tblGrid>
              <a:tr h="380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worker_id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project_id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name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project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project_client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CCCCCC"/>
                    </a:solidFill>
                  </a:tcPr>
                </a:tc>
              </a:tr>
              <a:tr h="441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1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1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Суворов Алексей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КайзерДом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Сергей И.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</a:tr>
              <a:tr h="415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</a:rPr>
                        <a:t>2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</a:rPr>
                        <a:t>Суворов Алексей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</a:rPr>
                        <a:t>Юнитраст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</a:rPr>
                        <a:t>Иван С.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</a:tr>
              <a:tr h="406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2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3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Окулов Ярослав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Доска почета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Аркадий Г.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</a:tr>
              <a:tr h="49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3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1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Созинов Илья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</a:rPr>
                        <a:t>КайзерДом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</a:rPr>
                        <a:t>Сергей И.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</a:tr>
              <a:tr h="483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</a:rPr>
                        <a:t>4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</a:rPr>
                        <a:t>Збруев Роман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КайзерДом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</a:rPr>
                        <a:t>Сергей И.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</a:tr>
              <a:tr h="49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4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2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Збруев Роман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Юнитраст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Иван С.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2" name="Google Shape;152;p28"/>
          <p:cNvSpPr/>
          <p:nvPr/>
        </p:nvSpPr>
        <p:spPr>
          <a:xfrm>
            <a:off x="283225" y="711525"/>
            <a:ext cx="2751900" cy="35319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28"/>
          <p:cNvSpPr txBox="1"/>
          <p:nvPr/>
        </p:nvSpPr>
        <p:spPr>
          <a:xfrm>
            <a:off x="985450" y="625875"/>
            <a:ext cx="6909900" cy="37032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360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Все атрибуты зависят от первичного ключа целиком, а не от какой-то его части</a:t>
            </a:r>
            <a:endParaRPr sz="36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9"/>
          <p:cNvSpPr txBox="1"/>
          <p:nvPr>
            <p:ph type="ctrTitle"/>
          </p:nvPr>
        </p:nvSpPr>
        <p:spPr>
          <a:xfrm>
            <a:off x="488250" y="152700"/>
            <a:ext cx="8327700" cy="71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3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2 НФ - добавим первичный ключ</a:t>
            </a:r>
            <a:endParaRPr b="1" sz="3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159" name="Google Shape;159;p29"/>
          <p:cNvGraphicFramePr/>
          <p:nvPr/>
        </p:nvGraphicFramePr>
        <p:xfrm>
          <a:off x="350250" y="8687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{A149C0C6-D02B-405A-AD4C-83FB681DCE10}</a:tableStyleId>
              </a:tblPr>
              <a:tblGrid>
                <a:gridCol w="1304100"/>
                <a:gridCol w="1304100"/>
                <a:gridCol w="1818450"/>
                <a:gridCol w="2097850"/>
                <a:gridCol w="1655800"/>
              </a:tblGrid>
              <a:tr h="380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worker_id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project_id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name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project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project_client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CCCCCC"/>
                    </a:solidFill>
                  </a:tcPr>
                </a:tc>
              </a:tr>
              <a:tr h="441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1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1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Суворов Алексей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КайзерДом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Сергей И.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</a:tr>
              <a:tr h="415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</a:rPr>
                        <a:t>2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</a:rPr>
                        <a:t>Суворов Алексей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</a:rPr>
                        <a:t>Юнитраст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</a:rPr>
                        <a:t>Иван С.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</a:tr>
              <a:tr h="406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2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3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Окулов Ярослав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Доска почета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Аркадий Г.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</a:tr>
              <a:tr h="49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3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1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Созинов Илья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</a:rPr>
                        <a:t>КайзерДом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</a:rPr>
                        <a:t>Сергей И.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</a:tr>
              <a:tr h="483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</a:rPr>
                        <a:t>4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</a:rPr>
                        <a:t>Збруев Роман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КайзерДом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</a:rPr>
                        <a:t>Сергей И.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</a:tr>
              <a:tr h="49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4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2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Збруев Роман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Юнитраст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Иван С.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0" name="Google Shape;160;p29"/>
          <p:cNvSpPr/>
          <p:nvPr/>
        </p:nvSpPr>
        <p:spPr>
          <a:xfrm>
            <a:off x="283225" y="711525"/>
            <a:ext cx="2751900" cy="35319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29"/>
          <p:cNvSpPr txBox="1"/>
          <p:nvPr/>
        </p:nvSpPr>
        <p:spPr>
          <a:xfrm>
            <a:off x="985450" y="625875"/>
            <a:ext cx="6909900" cy="37032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360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Решение - Декомпозиция</a:t>
            </a:r>
            <a:endParaRPr sz="36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0"/>
          <p:cNvSpPr txBox="1"/>
          <p:nvPr>
            <p:ph type="ctrTitle"/>
          </p:nvPr>
        </p:nvSpPr>
        <p:spPr>
          <a:xfrm>
            <a:off x="488250" y="135550"/>
            <a:ext cx="8327700" cy="71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3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2 НФ - Декомпозиция</a:t>
            </a:r>
            <a:endParaRPr b="1" sz="3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167" name="Google Shape;167;p30"/>
          <p:cNvGraphicFramePr/>
          <p:nvPr/>
        </p:nvGraphicFramePr>
        <p:xfrm>
          <a:off x="310075" y="10830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{A149C0C6-D02B-405A-AD4C-83FB681DCE10}</a:tableStyleId>
              </a:tblPr>
              <a:tblGrid>
                <a:gridCol w="901550"/>
                <a:gridCol w="1337275"/>
                <a:gridCol w="1633300"/>
              </a:tblGrid>
              <a:tr h="380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project_id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project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project_client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CCCCCC"/>
                    </a:solidFill>
                  </a:tcPr>
                </a:tc>
              </a:tr>
              <a:tr h="441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1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КайзерДом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Сергей И.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</a:tr>
              <a:tr h="415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</a:rPr>
                        <a:t>2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</a:rPr>
                        <a:t>Юнитраст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</a:rPr>
                        <a:t>Иван С.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</a:tr>
              <a:tr h="406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3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Доска почета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Аркадий Г.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8" name="Google Shape;168;p30"/>
          <p:cNvGraphicFramePr/>
          <p:nvPr/>
        </p:nvGraphicFramePr>
        <p:xfrm>
          <a:off x="6474500" y="1083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{A149C0C6-D02B-405A-AD4C-83FB681DCE10}</a:tableStyleId>
              </a:tblPr>
              <a:tblGrid>
                <a:gridCol w="873175"/>
                <a:gridCol w="1421150"/>
              </a:tblGrid>
              <a:tr h="369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worker_id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name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CCCCCC"/>
                    </a:solidFill>
                  </a:tcPr>
                </a:tc>
              </a:tr>
              <a:tr h="447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1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Суворов Алексей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</a:tr>
              <a:tr h="41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2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Окулов Ярослав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</a:tr>
              <a:tr h="505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3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Созинов Илья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</a:tr>
              <a:tr h="505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4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Збруев Роман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9" name="Google Shape;169;p30"/>
          <p:cNvGraphicFramePr/>
          <p:nvPr/>
        </p:nvGraphicFramePr>
        <p:xfrm>
          <a:off x="4447925" y="10830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{A149C0C6-D02B-405A-AD4C-83FB681DCE10}</a:tableStyleId>
              </a:tblPr>
              <a:tblGrid>
                <a:gridCol w="891950"/>
                <a:gridCol w="868900"/>
              </a:tblGrid>
              <a:tr h="380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worker_id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project_id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CCCCCC"/>
                    </a:solidFill>
                  </a:tcPr>
                </a:tc>
              </a:tr>
              <a:tr h="441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1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1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</a:tr>
              <a:tr h="415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</a:rPr>
                        <a:t>2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</a:tr>
              <a:tr h="406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2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3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</a:tr>
              <a:tr h="49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3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1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</a:tr>
              <a:tr h="483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</a:rPr>
                        <a:t>4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</a:tr>
              <a:tr h="49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4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2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1"/>
          <p:cNvSpPr txBox="1"/>
          <p:nvPr>
            <p:ph type="ctrTitle"/>
          </p:nvPr>
        </p:nvSpPr>
        <p:spPr>
          <a:xfrm>
            <a:off x="408150" y="152700"/>
            <a:ext cx="8327700" cy="71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3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r>
              <a:rPr b="1" lang="ru" sz="3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НФ</a:t>
            </a:r>
            <a:endParaRPr b="1" sz="3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5" name="Google Shape;175;p31"/>
          <p:cNvSpPr txBox="1"/>
          <p:nvPr/>
        </p:nvSpPr>
        <p:spPr>
          <a:xfrm>
            <a:off x="408150" y="915200"/>
            <a:ext cx="8327700" cy="378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Определение:</a:t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Переменная отношения находится в третьей нормальной форме тогда и только тогда, когда она находится во второй нормальной форме, и отсутствуют транзитивные функциональные зависимости неключевых атрибутов от ключевых.</a:t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2"/>
          <p:cNvSpPr txBox="1"/>
          <p:nvPr>
            <p:ph type="ctrTitle"/>
          </p:nvPr>
        </p:nvSpPr>
        <p:spPr>
          <a:xfrm>
            <a:off x="408150" y="152700"/>
            <a:ext cx="8327700" cy="71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3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r>
              <a:rPr b="1" lang="ru" sz="3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НФ</a:t>
            </a:r>
            <a:endParaRPr b="1" sz="3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1" name="Google Shape;181;p32"/>
          <p:cNvSpPr txBox="1"/>
          <p:nvPr/>
        </p:nvSpPr>
        <p:spPr>
          <a:xfrm>
            <a:off x="408150" y="915200"/>
            <a:ext cx="8327700" cy="378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Определение:</a:t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Переменная отношения находится в третьей нормальной форме тогда и только тогда, когда она находится во второй нормальной форме, и отсутствуют транзитивные функциональные зависимости неключевых атрибутов от ключевых.</a:t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82" name="Google Shape;182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353665">
            <a:off x="3975701" y="1010474"/>
            <a:ext cx="3784500" cy="3784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3"/>
          <p:cNvSpPr txBox="1"/>
          <p:nvPr>
            <p:ph type="ctrTitle"/>
          </p:nvPr>
        </p:nvSpPr>
        <p:spPr>
          <a:xfrm>
            <a:off x="408150" y="152700"/>
            <a:ext cx="8327700" cy="71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3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r>
              <a:rPr b="1" lang="ru" sz="3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НФ</a:t>
            </a:r>
            <a:endParaRPr b="1" sz="3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8" name="Google Shape;188;p33"/>
          <p:cNvSpPr txBox="1"/>
          <p:nvPr/>
        </p:nvSpPr>
        <p:spPr>
          <a:xfrm>
            <a:off x="408150" y="915200"/>
            <a:ext cx="5353500" cy="378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Карочи</a:t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Char char="-"/>
            </a:pPr>
            <a:r>
              <a:rPr lang="ru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Таблица в 2 НФ</a:t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Char char="-"/>
            </a:pPr>
            <a:r>
              <a:rPr lang="ru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Все атрибуты зависят только от первичного ключа, но не от других атрибутов</a:t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89" name="Google Shape;189;p33"/>
          <p:cNvPicPr preferRelativeResize="0"/>
          <p:nvPr/>
        </p:nvPicPr>
        <p:blipFill rotWithShape="1">
          <a:blip r:embed="rId4">
            <a:alphaModFix/>
          </a:blip>
          <a:srcRect b="5675" l="22080" r="21102" t="6343"/>
          <a:stretch/>
        </p:blipFill>
        <p:spPr>
          <a:xfrm>
            <a:off x="6087950" y="417500"/>
            <a:ext cx="2922451" cy="4525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4"/>
          <p:cNvSpPr txBox="1"/>
          <p:nvPr>
            <p:ph type="ctrTitle"/>
          </p:nvPr>
        </p:nvSpPr>
        <p:spPr>
          <a:xfrm>
            <a:off x="488250" y="135550"/>
            <a:ext cx="8327700" cy="71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3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r>
              <a:rPr b="1" lang="ru" sz="3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НФ - До нормализации</a:t>
            </a:r>
            <a:endParaRPr b="1" sz="3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195" name="Google Shape;195;p34"/>
          <p:cNvGraphicFramePr/>
          <p:nvPr/>
        </p:nvGraphicFramePr>
        <p:xfrm>
          <a:off x="488250" y="10265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{A149C0C6-D02B-405A-AD4C-83FB681DCE10}</a:tableStyleId>
              </a:tblPr>
              <a:tblGrid>
                <a:gridCol w="1217425"/>
                <a:gridCol w="1805825"/>
                <a:gridCol w="2205550"/>
                <a:gridCol w="2205550"/>
              </a:tblGrid>
              <a:tr h="420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tyre_id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tyre_name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supplier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</a:rPr>
                        <a:t>supplier</a:t>
                      </a:r>
                      <a:r>
                        <a:rPr lang="ru" sz="1200"/>
                        <a:t>_phone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CCCCCC"/>
                    </a:solidFill>
                  </a:tcPr>
                </a:tc>
              </a:tr>
              <a:tr h="487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1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Nokian Hakka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ИП Шлепаков Л.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+79233213123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</a:tr>
              <a:tr h="459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</a:rPr>
                        <a:t>2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</a:rPr>
                        <a:t>Nokian Nordman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</a:rPr>
                        <a:t>ООО Русский Север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</a:rPr>
                        <a:t>+79242343423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</a:tr>
              <a:tr h="449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3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Continental ContiIce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ООО Автомакс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</a:rPr>
                        <a:t>+79434234234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</a:tr>
              <a:tr h="449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4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Matador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ИП Кузнецов П.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</a:rPr>
                        <a:t>+79989493248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</a:tr>
              <a:tr h="449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5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Nordmaster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ИП Иванов П.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</a:rPr>
                        <a:t>+79646564345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5"/>
          <p:cNvSpPr txBox="1"/>
          <p:nvPr>
            <p:ph type="ctrTitle"/>
          </p:nvPr>
        </p:nvSpPr>
        <p:spPr>
          <a:xfrm>
            <a:off x="488250" y="135550"/>
            <a:ext cx="8327700" cy="71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3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3 НФ - До нормализации</a:t>
            </a:r>
            <a:endParaRPr b="1" sz="3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201" name="Google Shape;201;p35"/>
          <p:cNvGraphicFramePr/>
          <p:nvPr/>
        </p:nvGraphicFramePr>
        <p:xfrm>
          <a:off x="488250" y="10265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{A149C0C6-D02B-405A-AD4C-83FB681DCE10}</a:tableStyleId>
              </a:tblPr>
              <a:tblGrid>
                <a:gridCol w="1217425"/>
                <a:gridCol w="1805825"/>
                <a:gridCol w="2205550"/>
                <a:gridCol w="2205550"/>
              </a:tblGrid>
              <a:tr h="420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tyre_id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tyre_name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supplier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</a:rPr>
                        <a:t>supplier</a:t>
                      </a:r>
                      <a:r>
                        <a:rPr lang="ru" sz="1200"/>
                        <a:t>_phone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CCCCCC"/>
                    </a:solidFill>
                  </a:tcPr>
                </a:tc>
              </a:tr>
              <a:tr h="487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1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Nokian Hakka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ИП Шлепаков Л.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+79233213123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</a:tr>
              <a:tr h="459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</a:rPr>
                        <a:t>2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</a:rPr>
                        <a:t>Nokian Nordman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</a:rPr>
                        <a:t>ООО Русский Север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</a:rPr>
                        <a:t>+79242343423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</a:tr>
              <a:tr h="449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3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Continental ContiIce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ООО Автомакс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</a:rPr>
                        <a:t>+79434234234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</a:tr>
              <a:tr h="449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4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Matador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ИП Кузнецов П.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</a:rPr>
                        <a:t>+79989493248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</a:tr>
              <a:tr h="449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5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Nordmaster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ИП Иванов П.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</a:rPr>
                        <a:t>+79646564345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202" name="Google Shape;202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549588">
            <a:off x="3772500" y="475575"/>
            <a:ext cx="4409650" cy="4409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6"/>
          <p:cNvSpPr txBox="1"/>
          <p:nvPr>
            <p:ph type="ctrTitle"/>
          </p:nvPr>
        </p:nvSpPr>
        <p:spPr>
          <a:xfrm>
            <a:off x="488250" y="135550"/>
            <a:ext cx="8327700" cy="71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3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3 НФ - После нормализации</a:t>
            </a:r>
            <a:endParaRPr b="1" sz="3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208" name="Google Shape;208;p36"/>
          <p:cNvGraphicFramePr/>
          <p:nvPr/>
        </p:nvGraphicFramePr>
        <p:xfrm>
          <a:off x="488250" y="12141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{A149C0C6-D02B-405A-AD4C-83FB681DCE10}</a:tableStyleId>
              </a:tblPr>
              <a:tblGrid>
                <a:gridCol w="698200"/>
                <a:gridCol w="1791100"/>
                <a:gridCol w="965425"/>
              </a:tblGrid>
              <a:tr h="420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tyre_id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tyre_name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supplier_id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CCCCCC"/>
                    </a:solidFill>
                  </a:tcPr>
                </a:tc>
              </a:tr>
              <a:tr h="487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1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Nokian Hakka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1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</a:tr>
              <a:tr h="459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</a:rPr>
                        <a:t>2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</a:rPr>
                        <a:t>Nokian Nordman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</a:rPr>
                        <a:t>2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</a:tr>
              <a:tr h="449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3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Continental ContiIce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3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</a:tr>
              <a:tr h="449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4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Matador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4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</a:tr>
              <a:tr h="449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5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Nordmaster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5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09" name="Google Shape;209;p36"/>
          <p:cNvGraphicFramePr/>
          <p:nvPr/>
        </p:nvGraphicFramePr>
        <p:xfrm>
          <a:off x="4726050" y="12141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{A149C0C6-D02B-405A-AD4C-83FB681DCE10}</a:tableStyleId>
              </a:tblPr>
              <a:tblGrid>
                <a:gridCol w="437975"/>
                <a:gridCol w="1918250"/>
                <a:gridCol w="1518225"/>
              </a:tblGrid>
              <a:tr h="420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id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supplier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</a:rPr>
                        <a:t>supplier</a:t>
                      </a:r>
                      <a:r>
                        <a:rPr lang="ru" sz="1200"/>
                        <a:t>_phone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CCCCCC"/>
                    </a:solidFill>
                  </a:tcPr>
                </a:tc>
              </a:tr>
              <a:tr h="487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1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ИП Шлепаков Л.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+79233213123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</a:tr>
              <a:tr h="459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</a:rPr>
                        <a:t>2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</a:rPr>
                        <a:t>ООО Русский Север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</a:rPr>
                        <a:t>+79242343423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</a:tr>
              <a:tr h="449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3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ООО Автомакс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</a:rPr>
                        <a:t>+79434234234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</a:tr>
              <a:tr h="449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4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ИП Кузнецов П.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</a:rPr>
                        <a:t>+79989493248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</a:tr>
              <a:tr h="449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5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ИП Иванов П.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</a:rPr>
                        <a:t>+79646564345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" name="Google Shape;214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23425" y="86450"/>
            <a:ext cx="483870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8"/>
          <p:cNvSpPr txBox="1"/>
          <p:nvPr>
            <p:ph type="ctrTitle"/>
          </p:nvPr>
        </p:nvSpPr>
        <p:spPr>
          <a:xfrm>
            <a:off x="3903075" y="1914300"/>
            <a:ext cx="1193700" cy="71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3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Всё )</a:t>
            </a:r>
            <a:endParaRPr b="1" sz="3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