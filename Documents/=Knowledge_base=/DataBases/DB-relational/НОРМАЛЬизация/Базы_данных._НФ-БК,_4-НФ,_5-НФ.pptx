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FF05A7-203A-4A77-9D0B-ADF7B5711ADF}">
  <a:tblStyle styleId="{E6FF05A7-203A-4A77-9D0B-ADF7B5711A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italic.fntdata"/><Relationship Id="rId14" Type="http://schemas.openxmlformats.org/officeDocument/2006/relationships/slide" Target="slides/slide8.xml"/><Relationship Id="rId36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e093b50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e093b50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e093b50b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e093b50b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e093b50b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e093b50b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e093b50b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e093b50b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e093b50b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e093b50b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e093b50b7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e093b50b7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e093b50b7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e093b50b7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e093b50b7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e093b50b7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e093b50b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e093b50b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e093b50b7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e093b50b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e093b50b7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e093b50b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e093b50b7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e093b50b7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e093b50b7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e093b50b7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e093b50b7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e093b50b7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e093b50b7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e093b50b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e093b50b7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7e093b50b7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e093b50b7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e093b50b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e093b50b7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7e093b50b7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e093b50b7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e093b50b7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e093b50b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e093b50b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e093b50b7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e093b50b7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e093b50b7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e093b50b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e093b50b7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e093b50b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e093b50b7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e093b50b7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e093b50b7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e093b50b7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e093b50b7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7e093b50b7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e093b50b7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e093b50b7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7e093b50b7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7e093b50b7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hyperlink" Target="https://ru.wikipedia.org/wiki/%D0%9D%D0%BE%D1%80%D0%BC%D0%B0%D0%BB%D1%8C%D0%BD%D0%B0%D1%8F_%D1%84%D0%BE%D1%80%D0%BC%D0%B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8675" y="1162050"/>
            <a:ext cx="8520600" cy="10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Базы данных. 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 БК, 4 НФ, 5 НФ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8675" y="2248050"/>
            <a:ext cx="4675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Окулов Антон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6052200" y="4166950"/>
            <a:ext cx="27801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R.class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Нормализация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Удаление избыточности данных.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Избыточность - когда мы храним больше данных, чем это необходимо.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Избыточность ведет к: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Увеличению занимаемого места на диске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Аномалиям включения, обновления, удаления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Нормальная форма Бойса-Кодда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нормальной форме Бойса — Кодда (иначе — в усиленной третьей нормальной форме) тогда и только тогда, когда каждая её нетривиальная и неприводимая слева функциональная зависимость имеет в качестве своего детерминанта некоторый потенциальный ключ.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Нормальная форма 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Бойса-Кодда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08150" y="1443775"/>
            <a:ext cx="5353500" cy="3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Таблица в 3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Ключевые атрибуты не должны зависеть он не-ключевых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Дано</a:t>
            </a: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Каждый сотрудник может курировать только ту работу для которой он квалифицирован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Максим - курирует маркетинг,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Рома - программирование,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Илья - дизайн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Есть куча проектов над которыми они работают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Для каждого из проектов могут быть выполнены и Разработка и дизайн и маркетинг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Куратор по каждому из направлений у проекта может быть только один (дабы не было неразберихи)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431200" y="915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task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resposible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Максим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Диана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Первичный ключ - составной Проект + Задача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Первичный ключ - составной Проект + Задача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 проявляется зависимость части первичного ключа (задачи) от ответственного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Первичный ключ - составной Проект + Задача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 проявляется зависимость части первичного ключа (задачи) от ответственного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Зная кем является ответственный можно четко сказать какую задачу он выполняет в проекте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1" name="Google Shape;111;p22"/>
          <p:cNvGraphicFramePr/>
          <p:nvPr/>
        </p:nvGraphicFramePr>
        <p:xfrm>
          <a:off x="431200" y="915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task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resposible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Максим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Диана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22"/>
          <p:cNvSpPr txBox="1"/>
          <p:nvPr/>
        </p:nvSpPr>
        <p:spPr>
          <a:xfrm>
            <a:off x="1305000" y="4464300"/>
            <a:ext cx="6215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Решение?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8" name="Google Shape;118;p23"/>
          <p:cNvGraphicFramePr/>
          <p:nvPr/>
        </p:nvGraphicFramePr>
        <p:xfrm>
          <a:off x="431200" y="915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task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resposible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Максим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Диана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23"/>
          <p:cNvSpPr txBox="1"/>
          <p:nvPr/>
        </p:nvSpPr>
        <p:spPr>
          <a:xfrm>
            <a:off x="1305000" y="4464300"/>
            <a:ext cx="6215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Декомпозиция!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6250" y="1031088"/>
            <a:ext cx="2681924" cy="3353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НФБК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6" name="Google Shape;126;p24"/>
          <p:cNvGraphicFramePr/>
          <p:nvPr/>
        </p:nvGraphicFramePr>
        <p:xfrm>
          <a:off x="431200" y="915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893525"/>
                <a:gridCol w="1044025"/>
                <a:gridCol w="166122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id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name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skill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Максим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Илья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Дизайн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Диана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Маркетинг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Разработка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24"/>
          <p:cNvSpPr txBox="1"/>
          <p:nvPr/>
        </p:nvSpPr>
        <p:spPr>
          <a:xfrm>
            <a:off x="714850" y="4431250"/>
            <a:ext cx="2190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workers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8" name="Google Shape;128;p24"/>
          <p:cNvGraphicFramePr/>
          <p:nvPr/>
        </p:nvGraphicFramePr>
        <p:xfrm>
          <a:off x="5079675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188925"/>
                <a:gridCol w="1319500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project_</a:t>
                      </a:r>
                      <a:r>
                        <a:rPr lang="ru" sz="1200"/>
                        <a:t>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responsible_id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24"/>
          <p:cNvSpPr txBox="1"/>
          <p:nvPr/>
        </p:nvSpPr>
        <p:spPr>
          <a:xfrm>
            <a:off x="5202050" y="4431250"/>
            <a:ext cx="2190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projects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четвёртой нормальной форме, если она находится в нормальной форме Бойса — Кодда и не содержит нетривиальных многозначных зависимостей.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23125" y="876900"/>
            <a:ext cx="5353500" cy="3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Таблица </a:t>
            </a: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находится в НФ БК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Устраняются многозначные зависимости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" name="Google Shape;148;p27"/>
          <p:cNvGraphicFramePr/>
          <p:nvPr/>
        </p:nvGraphicFramePr>
        <p:xfrm>
          <a:off x="516075" y="207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27"/>
          <p:cNvSpPr txBox="1"/>
          <p:nvPr/>
        </p:nvSpPr>
        <p:spPr>
          <a:xfrm>
            <a:off x="408150" y="915200"/>
            <a:ext cx="8327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Для одного сотрудника есть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МНОЖЕСТВО проектов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МНОЖЕСТВО увлечений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5" name="Google Shape;155;p28"/>
          <p:cNvGraphicFramePr/>
          <p:nvPr/>
        </p:nvGraphicFramePr>
        <p:xfrm>
          <a:off x="516075" y="207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8"/>
          <p:cNvSpPr txBox="1"/>
          <p:nvPr/>
        </p:nvSpPr>
        <p:spPr>
          <a:xfrm>
            <a:off x="408150" y="915200"/>
            <a:ext cx="8327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Атрибуты Проект и Увлечение напрямую зависят от первого столбца, но друг от друга они независимы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2" name="Google Shape;162;p29"/>
          <p:cNvGraphicFramePr/>
          <p:nvPr/>
        </p:nvGraphicFramePr>
        <p:xfrm>
          <a:off x="516075" y="207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9"/>
          <p:cNvSpPr txBox="1"/>
          <p:nvPr/>
        </p:nvSpPr>
        <p:spPr>
          <a:xfrm>
            <a:off x="408150" y="915200"/>
            <a:ext cx="8327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Первый же вопрос - а что будет если увлечений у данного сотрудника больше чем проектов?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9" name="Google Shape;169;p30"/>
          <p:cNvGraphicFramePr/>
          <p:nvPr/>
        </p:nvGraphicFramePr>
        <p:xfrm>
          <a:off x="516075" y="207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9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8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30"/>
          <p:cNvSpPr txBox="1"/>
          <p:nvPr/>
        </p:nvSpPr>
        <p:spPr>
          <a:xfrm>
            <a:off x="408150" y="915200"/>
            <a:ext cx="8327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Еще вариант - выбрать все хобби сотрудников, которые участвуют в проекте “КайзерДом”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6" name="Google Shape;176;p31"/>
          <p:cNvGraphicFramePr/>
          <p:nvPr/>
        </p:nvGraphicFramePr>
        <p:xfrm>
          <a:off x="516075" y="97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7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31"/>
          <p:cNvSpPr txBox="1"/>
          <p:nvPr/>
        </p:nvSpPr>
        <p:spPr>
          <a:xfrm>
            <a:off x="1305000" y="4464300"/>
            <a:ext cx="6215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Решение?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3" name="Google Shape;183;p32"/>
          <p:cNvGraphicFramePr/>
          <p:nvPr/>
        </p:nvGraphicFramePr>
        <p:xfrm>
          <a:off x="516075" y="97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7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32"/>
          <p:cNvSpPr txBox="1"/>
          <p:nvPr/>
        </p:nvSpPr>
        <p:spPr>
          <a:xfrm>
            <a:off x="1305000" y="4464300"/>
            <a:ext cx="6215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Декомпозиция!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0" name="Google Shape;190;p33"/>
          <p:cNvGraphicFramePr/>
          <p:nvPr/>
        </p:nvGraphicFramePr>
        <p:xfrm>
          <a:off x="983675" y="99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008575"/>
                <a:gridCol w="1567900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FabioRoss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7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33"/>
          <p:cNvSpPr txBox="1"/>
          <p:nvPr/>
        </p:nvSpPr>
        <p:spPr>
          <a:xfrm>
            <a:off x="1237963" y="4464275"/>
            <a:ext cx="20679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workers_projects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2" name="Google Shape;192;p33"/>
          <p:cNvGraphicFramePr/>
          <p:nvPr/>
        </p:nvGraphicFramePr>
        <p:xfrm>
          <a:off x="4880825" y="99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950675"/>
                <a:gridCol w="1920750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worker_id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hobbie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Радиотехника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Футбол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7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Хоккей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5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Гитара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33"/>
          <p:cNvSpPr txBox="1"/>
          <p:nvPr/>
        </p:nvSpPr>
        <p:spPr>
          <a:xfrm>
            <a:off x="5200088" y="4464325"/>
            <a:ext cx="20679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workers_hobbies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Определение: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Переменная отношения находится в пятой нормальной форме (иначе — в проекционно-соединительной нормальной форме) тогда и только тогда, когда каждая нетривиальная зависимость соединения в ней определяется потенциальным ключом (ключами) этого отношения.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523125" y="876900"/>
            <a:ext cx="5353500" cy="3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Карочи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Таблица находится в 4 НФ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Устраняются нетривиальные зависимости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(Декомпозиция без потерь)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35"/>
          <p:cNvPicPr preferRelativeResize="0"/>
          <p:nvPr/>
        </p:nvPicPr>
        <p:blipFill rotWithShape="1">
          <a:blip r:embed="rId4">
            <a:alphaModFix/>
          </a:blip>
          <a:srcRect b="5675" l="22080" r="21102" t="6343"/>
          <a:stretch/>
        </p:blipFill>
        <p:spPr>
          <a:xfrm>
            <a:off x="6087950" y="417500"/>
            <a:ext cx="2922451" cy="452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12" name="Google Shape;212;p36"/>
          <p:cNvGraphicFramePr/>
          <p:nvPr/>
        </p:nvGraphicFramePr>
        <p:xfrm>
          <a:off x="4882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part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API Integration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Ярик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25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Резина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36"/>
          <p:cNvSpPr txBox="1"/>
          <p:nvPr/>
        </p:nvSpPr>
        <p:spPr>
          <a:xfrm>
            <a:off x="408150" y="3549100"/>
            <a:ext cx="83277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Миша делает только Frontend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Рома наоборот, делает все, кроме Frontend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Миша участвует большом количестве проектов, Ярик только в одном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19" name="Google Shape;219;p37"/>
          <p:cNvGraphicFramePr/>
          <p:nvPr/>
        </p:nvGraphicFramePr>
        <p:xfrm>
          <a:off x="48825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421375"/>
                <a:gridCol w="3425325"/>
                <a:gridCol w="3425325"/>
              </a:tblGrid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part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API Integration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Ярик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25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Резина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37"/>
          <p:cNvSpPr txBox="1"/>
          <p:nvPr/>
        </p:nvSpPr>
        <p:spPr>
          <a:xfrm>
            <a:off x="408150" y="3549100"/>
            <a:ext cx="83277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Декомпозируем без потерь таким образом, чтобы при объединении декомпозированных таблиц мы получили исходную таблицу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 НФ - Пример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6" name="Google Shape;226;p38"/>
          <p:cNvGraphicFramePr/>
          <p:nvPr/>
        </p:nvGraphicFramePr>
        <p:xfrm>
          <a:off x="534225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984475"/>
                <a:gridCol w="1202550"/>
              </a:tblGrid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Ярик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25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Резина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Google Shape;227;p38"/>
          <p:cNvGraphicFramePr/>
          <p:nvPr/>
        </p:nvGraphicFramePr>
        <p:xfrm>
          <a:off x="6405775" y="830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1305200"/>
                <a:gridCol w="1248425"/>
              </a:tblGrid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project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part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КайзерДом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Сантехник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API Integration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6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Доска Почета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25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Резина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" name="Google Shape;228;p38"/>
          <p:cNvGraphicFramePr/>
          <p:nvPr/>
        </p:nvGraphicFramePr>
        <p:xfrm>
          <a:off x="3493100" y="86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{E6FF05A7-203A-4A77-9D0B-ADF7B5711ADF}</a:tableStyleId>
              </a:tblPr>
              <a:tblGrid>
                <a:gridCol w="938450"/>
                <a:gridCol w="1202350"/>
              </a:tblGrid>
              <a:tr h="3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worker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part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3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Миша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Frontend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Рома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API Integration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39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Ярик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Backend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0775" y="152400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ctrTitle"/>
          </p:nvPr>
        </p:nvSpPr>
        <p:spPr>
          <a:xfrm>
            <a:off x="488250" y="152700"/>
            <a:ext cx="83277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Всё!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408150" y="915200"/>
            <a:ext cx="83277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ДЗ: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Прочитать примеры в википедии по нормальным формам.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Ознакомится с 6НФ и Доменно-ключевой НФ.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u="sng">
                <a:solidFill>
                  <a:schemeClr val="hlink"/>
                </a:solidFill>
                <a:hlinkClick r:id="rId4"/>
              </a:rPr>
              <a:t>https://ru.wikipedia.org/wiki/%D0%9D%D0%BE%D1%80%D0%BC%D0%B0%D0%BB%D1%8C%D0%BD%D0%B0%D1%8F_%D1%84%D0%BE%D1%80%D0%BC%D0%B0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